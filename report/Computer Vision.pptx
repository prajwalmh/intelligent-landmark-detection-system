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elegraf Bold" charset="1" panose="00000800000000000000"/>
      <p:regular r:id="rId15"/>
    </p:embeddedFont>
    <p:embeddedFont>
      <p:font typeface="Telegraf" charset="1" panose="00000500000000000000"/>
      <p:regular r:id="rId16"/>
    </p:embeddedFon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53500"/>
            <a:chOff x="0" y="0"/>
            <a:chExt cx="928643" cy="1156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8643" cy="1156192"/>
            </a:xfrm>
            <a:custGeom>
              <a:avLst/>
              <a:gdLst/>
              <a:ahLst/>
              <a:cxnLst/>
              <a:rect r="r" b="b" t="t" l="l"/>
              <a:pathLst>
                <a:path h="1156192" w="928643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66750"/>
            <a:ext cx="8324850" cy="4781550"/>
            <a:chOff x="0" y="0"/>
            <a:chExt cx="11099800" cy="63754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74750"/>
              <a:ext cx="11099800" cy="5200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b="true" sz="9000" spc="-8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Intelligent Landmark Detection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1099800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99"/>
                </a:lnSpc>
              </a:pPr>
              <a:r>
                <a:rPr lang="en-US" b="true" sz="2999" spc="-29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Computer Vision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7934325"/>
            <a:ext cx="832485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Team membe</a:t>
            </a:r>
            <a:r>
              <a:rPr lang="en-US" sz="2999" spc="-2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rs</a:t>
            </a:r>
          </a:p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Karan Bhavsar — 1002216246</a:t>
            </a:r>
          </a:p>
          <a:p>
            <a:pPr algn="l" marL="0" indent="0" lvl="0">
              <a:lnSpc>
                <a:spcPts val="3299"/>
              </a:lnSpc>
            </a:pPr>
            <a:r>
              <a:rPr lang="en-US" sz="2999" spc="-2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Prajwal Mrithyunjay Hulamani — 1002248365</a:t>
            </a:r>
          </a:p>
          <a:p>
            <a:pPr algn="l" marL="0" indent="0" lvl="0">
              <a:lnSpc>
                <a:spcPts val="329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43709" y="0"/>
            <a:ext cx="7944291" cy="10287000"/>
            <a:chOff x="0" y="0"/>
            <a:chExt cx="938826" cy="1215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8826" cy="1215678"/>
            </a:xfrm>
            <a:custGeom>
              <a:avLst/>
              <a:gdLst/>
              <a:ahLst/>
              <a:cxnLst/>
              <a:rect r="r" b="b" t="t" l="l"/>
              <a:pathLst>
                <a:path h="1215678" w="938826">
                  <a:moveTo>
                    <a:pt x="0" y="0"/>
                  </a:moveTo>
                  <a:lnTo>
                    <a:pt x="938826" y="0"/>
                  </a:lnTo>
                  <a:lnTo>
                    <a:pt x="938826" y="1215678"/>
                  </a:lnTo>
                  <a:lnTo>
                    <a:pt x="0" y="1215678"/>
                  </a:lnTo>
                  <a:close/>
                </a:path>
              </a:pathLst>
            </a:custGeom>
            <a:blipFill>
              <a:blip r:embed="rId2"/>
              <a:stretch>
                <a:fillRect l="-127382" t="0" r="-12738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1112"/>
            <a:ext cx="10336598" cy="1277964"/>
            <a:chOff x="0" y="0"/>
            <a:chExt cx="13782131" cy="170395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300615"/>
              <a:ext cx="13782131" cy="403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99"/>
                </a:lnSpc>
              </a:pPr>
              <a:r>
                <a:rPr lang="en-US" sz="1999" spc="-19" strike="noStrike" u="none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Exploring how technology enhances landmark recognition systems.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3782131" cy="938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57"/>
                </a:lnSpc>
              </a:pPr>
              <a:r>
                <a:rPr lang="en-US" b="true" sz="4597" spc="-45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Introduction to Intelligent Detection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0" y="1893080"/>
            <a:ext cx="10074188" cy="813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307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•Problem</a:t>
            </a:r>
          </a:p>
          <a:p>
            <a:pPr algn="l" marL="663353" indent="-331677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0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dentify and classify real-world landmarks in casual, unconstrained images</a:t>
            </a:r>
          </a:p>
          <a:p>
            <a:pPr algn="l">
              <a:lnSpc>
                <a:spcPts val="4301"/>
              </a:lnSpc>
            </a:pPr>
            <a:r>
              <a:rPr lang="en-US" b="true" sz="30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•Challenges</a:t>
            </a:r>
          </a:p>
          <a:p>
            <a:pPr algn="l" marL="663353" indent="-331677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 variation in scale and viewpoint, occlusions, lighting changes, and a long‑tailed class distribution</a:t>
            </a:r>
          </a:p>
          <a:p>
            <a:pPr algn="l">
              <a:lnSpc>
                <a:spcPts val="4301"/>
              </a:lnSpc>
            </a:pPr>
            <a:r>
              <a:rPr lang="en-US" b="true" sz="307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•Goals</a:t>
            </a:r>
          </a:p>
          <a:p>
            <a:pPr algn="l" marL="663353" indent="-331677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High‑quality bounding boxes with correct landmark labels</a:t>
            </a:r>
          </a:p>
          <a:p>
            <a:pPr algn="l" marL="663353" indent="-331677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models fairly using the same preprocessing and evaluation metrics</a:t>
            </a:r>
          </a:p>
          <a:p>
            <a:pPr algn="l" marL="663353" indent="-331677" lvl="1">
              <a:lnSpc>
                <a:spcPts val="4301"/>
              </a:lnSpc>
              <a:buFont typeface="Arial"/>
              <a:buChar char="•"/>
            </a:pPr>
            <a:r>
              <a:rPr lang="en-US" sz="30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quick visual results to support analysis and live demonstrations</a:t>
            </a:r>
          </a:p>
          <a:p>
            <a:pPr algn="l">
              <a:lnSpc>
                <a:spcPts val="430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058150"/>
            <a:chOff x="0" y="0"/>
            <a:chExt cx="81382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3829" cy="952281"/>
            </a:xfrm>
            <a:custGeom>
              <a:avLst/>
              <a:gdLst/>
              <a:ahLst/>
              <a:cxnLst/>
              <a:rect r="r" b="b" t="t" l="l"/>
              <a:pathLst>
                <a:path h="952281" w="813829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7" r="0" b="-19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66750"/>
            <a:ext cx="8324850" cy="2655476"/>
            <a:chOff x="0" y="0"/>
            <a:chExt cx="11099800" cy="354063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3062269"/>
              <a:ext cx="11099800" cy="478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266950"/>
              <a:ext cx="110998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Enhancing Landmark Detection Technology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11099800" cy="1423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Task</a:t>
              </a:r>
              <a:r>
                <a:rPr lang="en-US" b="true" sz="6999" spc="-6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and data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606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44951" y="3685540"/>
            <a:ext cx="9446781" cy="593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Task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Detection: draw boun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ding boxes and attach class labels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Recognition: assign a class to every detected box.</a:t>
            </a:r>
          </a:p>
          <a:p>
            <a:pPr algn="just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format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COCO-style JSON annotations with train/validation                                        splits;  classes are easily extendable (e.g., Taj_Mahal,       Monument, Temple)</a:t>
            </a:r>
          </a:p>
          <a:p>
            <a:pPr algn="just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Preprocessing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Images resized to 640×640 with aspect‑ratio‑aware      padding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Lightweight augmentations such as horizontal flips and  small color/scale jitters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059850" cy="7818083"/>
            <a:chOff x="0" y="0"/>
            <a:chExt cx="14746466" cy="1042411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31434"/>
              <a:ext cx="14746466" cy="8292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3" indent="-323852" lvl="1">
                <a:lnSpc>
                  <a:spcPts val="3300"/>
                </a:lnSpc>
                <a:buAutoNum type="arabicPeriod" startAt="1"/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Pipeline: Data → detection models → REST API</a:t>
              </a:r>
            </a:p>
            <a:p>
              <a:pPr algn="l">
                <a:lnSpc>
                  <a:spcPts val="3300"/>
                </a:lnSpc>
              </a:pPr>
            </a:p>
            <a:p>
              <a:pPr algn="just" marL="647703" indent="-323852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Two models: a custom one‑stage detector and a Faster          R‑CNN baseline</a:t>
              </a:r>
            </a:p>
            <a:p>
              <a:pPr algn="just" marL="647703" indent="-323852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API endpoint POST /api/predict accepts an image upload and returns JSON with boxes, labels, and scores</a:t>
              </a:r>
            </a:p>
            <a:p>
              <a:pPr algn="just" marL="647703" indent="-323852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 React front‑end renders the image on a canvas, draws both models’ boxes, and enables side‑by‑side comparison</a:t>
              </a:r>
            </a:p>
            <a:p>
              <a:pPr algn="just">
                <a:lnSpc>
                  <a:spcPts val="3300"/>
                </a:lnSpc>
              </a:pPr>
              <a:r>
                <a:rPr lang="en-US" sz="3000" spc="-30">
                  <a:solidFill>
                    <a:srgbClr val="606060"/>
                  </a:solidFill>
                  <a:latin typeface="Telegraf"/>
                  <a:ea typeface="Telegraf"/>
                  <a:cs typeface="Telegraf"/>
                  <a:sym typeface="Telegraf"/>
                </a:rPr>
                <a:t>     2. </a:t>
              </a: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Box coordinate formats handled</a:t>
              </a:r>
            </a:p>
            <a:p>
              <a:pPr algn="just" marL="647703" indent="-323852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Custom model outputs normalized [0,1] coordinates which are rescaled to pixel units</a:t>
              </a:r>
            </a:p>
            <a:p>
              <a:pPr algn="just" marL="647703" indent="-323852" lvl="1">
                <a:lnSpc>
                  <a:spcPts val="3300"/>
                </a:lnSpc>
                <a:buFont typeface="Arial"/>
                <a:buChar char="•"/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Faster R‑CNN directly returns boxes in absolute pixel coordinates</a:t>
              </a:r>
            </a:p>
            <a:p>
              <a:pPr algn="just">
                <a:lnSpc>
                  <a:spcPts val="242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746466" cy="1423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Sys</a:t>
              </a:r>
              <a:r>
                <a:rPr lang="en-US" b="true" sz="6999" spc="-6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tem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49500" y="0"/>
            <a:ext cx="3238500" cy="10287000"/>
            <a:chOff x="0" y="0"/>
            <a:chExt cx="852938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9AA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666750"/>
            <a:ext cx="5448300" cy="8058150"/>
            <a:chOff x="0" y="0"/>
            <a:chExt cx="643859" cy="952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6" r="0" b="-176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606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INSIGHTS &amp; OBSERVATIONS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2571392"/>
            <a:chOff x="0" y="0"/>
            <a:chExt cx="9182100" cy="342852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718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Backend/</a:t>
              </a:r>
              <a:r>
                <a:rPr lang="en-US" b="true" sz="6999" spc="-6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API implementation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799873"/>
              <a:ext cx="91821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Innovative Use Cases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734675" y="2896787"/>
            <a:ext cx="5399474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-30">
                <a:solidFill>
                  <a:srgbClr val="606060"/>
                </a:solidFill>
                <a:latin typeface="Telegraf Bold"/>
                <a:ea typeface="Telegraf Bold"/>
                <a:cs typeface="Telegraf Bold"/>
                <a:sym typeface="Telegraf Bold"/>
              </a:rPr>
              <a:t>•POST /</a:t>
            </a:r>
            <a:r>
              <a:rPr lang="en-US" b="true" sz="3000" spc="-30">
                <a:solidFill>
                  <a:srgbClr val="606060"/>
                </a:solidFill>
                <a:latin typeface="Telegraf Bold"/>
                <a:ea typeface="Telegraf Bold"/>
                <a:cs typeface="Telegraf Bold"/>
                <a:sym typeface="Telegraf Bold"/>
              </a:rPr>
              <a:t>api/predict responds with: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463688" y="1028700"/>
            <a:ext cx="1966187" cy="1447548"/>
            <a:chOff x="0" y="0"/>
            <a:chExt cx="892454" cy="6570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2454" cy="657043"/>
            </a:xfrm>
            <a:custGeom>
              <a:avLst/>
              <a:gdLst/>
              <a:ahLst/>
              <a:cxnLst/>
              <a:rect r="r" b="b" t="t" l="l"/>
              <a:pathLst>
                <a:path h="657043" w="892454">
                  <a:moveTo>
                    <a:pt x="90563" y="0"/>
                  </a:moveTo>
                  <a:lnTo>
                    <a:pt x="801890" y="0"/>
                  </a:lnTo>
                  <a:cubicBezTo>
                    <a:pt x="851907" y="0"/>
                    <a:pt x="892454" y="40547"/>
                    <a:pt x="892454" y="90563"/>
                  </a:cubicBezTo>
                  <a:lnTo>
                    <a:pt x="892454" y="566480"/>
                  </a:lnTo>
                  <a:cubicBezTo>
                    <a:pt x="892454" y="616496"/>
                    <a:pt x="851907" y="657043"/>
                    <a:pt x="801890" y="657043"/>
                  </a:cubicBezTo>
                  <a:lnTo>
                    <a:pt x="90563" y="657043"/>
                  </a:lnTo>
                  <a:cubicBezTo>
                    <a:pt x="40547" y="657043"/>
                    <a:pt x="0" y="616496"/>
                    <a:pt x="0" y="566480"/>
                  </a:cubicBezTo>
                  <a:lnTo>
                    <a:pt x="0" y="90563"/>
                  </a:lnTo>
                  <a:cubicBezTo>
                    <a:pt x="0" y="40547"/>
                    <a:pt x="40547" y="0"/>
                    <a:pt x="90563" y="0"/>
                  </a:cubicBezTo>
                  <a:close/>
                </a:path>
              </a:pathLst>
            </a:custGeom>
            <a:blipFill>
              <a:blip r:embed="rId2"/>
              <a:stretch>
                <a:fillRect l="-3252" t="0" r="-325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34675" y="1009650"/>
            <a:ext cx="54483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-30">
                <a:solidFill>
                  <a:srgbClr val="606060"/>
                </a:solidFill>
                <a:latin typeface="Telegraf Bold"/>
                <a:ea typeface="Telegraf Bold"/>
                <a:cs typeface="Telegraf Bold"/>
                <a:sym typeface="Telegraf Bold"/>
              </a:rPr>
              <a:t>P</a:t>
            </a:r>
            <a:r>
              <a:rPr lang="en-US" b="true" sz="3000" spc="-30">
                <a:solidFill>
                  <a:srgbClr val="606060"/>
                </a:solidFill>
                <a:latin typeface="Telegraf Bold"/>
                <a:ea typeface="Telegraf Bold"/>
                <a:cs typeface="Telegraf Bold"/>
                <a:sym typeface="Telegraf Bold"/>
              </a:rPr>
              <a:t>rediction endpoint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34675" y="5386080"/>
            <a:ext cx="5448300" cy="1617345"/>
            <a:chOff x="0" y="0"/>
            <a:chExt cx="7264400" cy="215646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•Co</a:t>
              </a: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ntract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38293"/>
              <a:ext cx="7264400" cy="1418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–R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esponse schema is compact and consistent so the UI can consume it easily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63688" y="2915837"/>
            <a:ext cx="1966187" cy="1617364"/>
            <a:chOff x="0" y="0"/>
            <a:chExt cx="892454" cy="7341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2454" cy="734122"/>
            </a:xfrm>
            <a:custGeom>
              <a:avLst/>
              <a:gdLst/>
              <a:ahLst/>
              <a:cxnLst/>
              <a:rect r="r" b="b" t="t" l="l"/>
              <a:pathLst>
                <a:path h="734122" w="892454">
                  <a:moveTo>
                    <a:pt x="90563" y="0"/>
                  </a:moveTo>
                  <a:lnTo>
                    <a:pt x="801890" y="0"/>
                  </a:lnTo>
                  <a:cubicBezTo>
                    <a:pt x="851907" y="0"/>
                    <a:pt x="892454" y="40547"/>
                    <a:pt x="892454" y="90563"/>
                  </a:cubicBezTo>
                  <a:lnTo>
                    <a:pt x="892454" y="643559"/>
                  </a:lnTo>
                  <a:cubicBezTo>
                    <a:pt x="892454" y="693576"/>
                    <a:pt x="851907" y="734122"/>
                    <a:pt x="801890" y="734122"/>
                  </a:cubicBezTo>
                  <a:lnTo>
                    <a:pt x="90563" y="734122"/>
                  </a:lnTo>
                  <a:cubicBezTo>
                    <a:pt x="40547" y="734122"/>
                    <a:pt x="0" y="693576"/>
                    <a:pt x="0" y="643559"/>
                  </a:cubicBezTo>
                  <a:lnTo>
                    <a:pt x="0" y="90563"/>
                  </a:lnTo>
                  <a:cubicBezTo>
                    <a:pt x="0" y="40547"/>
                    <a:pt x="40547" y="0"/>
                    <a:pt x="90563" y="0"/>
                  </a:cubicBezTo>
                  <a:close/>
                </a:path>
              </a:pathLst>
            </a:custGeom>
            <a:blipFill>
              <a:blip r:embed="rId3"/>
              <a:stretch>
                <a:fillRect l="-9500" t="0" r="-950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463688" y="5299365"/>
            <a:ext cx="2127671" cy="1790774"/>
            <a:chOff x="0" y="0"/>
            <a:chExt cx="965751" cy="8128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5751" cy="812834"/>
            </a:xfrm>
            <a:custGeom>
              <a:avLst/>
              <a:gdLst/>
              <a:ahLst/>
              <a:cxnLst/>
              <a:rect r="r" b="b" t="t" l="l"/>
              <a:pathLst>
                <a:path h="812834" w="965751">
                  <a:moveTo>
                    <a:pt x="83690" y="0"/>
                  </a:moveTo>
                  <a:lnTo>
                    <a:pt x="882061" y="0"/>
                  </a:lnTo>
                  <a:cubicBezTo>
                    <a:pt x="904257" y="0"/>
                    <a:pt x="925544" y="8817"/>
                    <a:pt x="941239" y="24512"/>
                  </a:cubicBezTo>
                  <a:cubicBezTo>
                    <a:pt x="956934" y="40207"/>
                    <a:pt x="965751" y="61494"/>
                    <a:pt x="965751" y="83690"/>
                  </a:cubicBezTo>
                  <a:lnTo>
                    <a:pt x="965751" y="729144"/>
                  </a:lnTo>
                  <a:cubicBezTo>
                    <a:pt x="965751" y="775365"/>
                    <a:pt x="928282" y="812834"/>
                    <a:pt x="882061" y="812834"/>
                  </a:cubicBezTo>
                  <a:lnTo>
                    <a:pt x="83690" y="812834"/>
                  </a:lnTo>
                  <a:cubicBezTo>
                    <a:pt x="37469" y="812834"/>
                    <a:pt x="0" y="775365"/>
                    <a:pt x="0" y="729144"/>
                  </a:cubicBezTo>
                  <a:lnTo>
                    <a:pt x="0" y="83690"/>
                  </a:lnTo>
                  <a:cubicBezTo>
                    <a:pt x="0" y="37469"/>
                    <a:pt x="37469" y="0"/>
                    <a:pt x="83690" y="0"/>
                  </a:cubicBezTo>
                  <a:close/>
                </a:path>
              </a:pathLst>
            </a:custGeom>
            <a:blipFill>
              <a:blip r:embed="rId4"/>
              <a:stretch>
                <a:fillRect l="-10879" t="0" r="-10879" b="0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606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34675" y="3715937"/>
            <a:ext cx="5399474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–Custom model: normalized boxes plus labels and scores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2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–Faster_R-CNN: pixel‑space boxes along with labels and scores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463688" y="7444951"/>
            <a:ext cx="2164766" cy="1813349"/>
            <a:chOff x="0" y="0"/>
            <a:chExt cx="851949" cy="713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1950" cy="713648"/>
            </a:xfrm>
            <a:custGeom>
              <a:avLst/>
              <a:gdLst/>
              <a:ahLst/>
              <a:cxnLst/>
              <a:rect r="r" b="b" t="t" l="l"/>
              <a:pathLst>
                <a:path h="713648" w="851950">
                  <a:moveTo>
                    <a:pt x="0" y="0"/>
                  </a:moveTo>
                  <a:lnTo>
                    <a:pt x="851950" y="0"/>
                  </a:lnTo>
                  <a:lnTo>
                    <a:pt x="851950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5"/>
              <a:stretch>
                <a:fillRect l="-64748" t="0" r="-64748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887075" y="7444951"/>
            <a:ext cx="5448300" cy="2322195"/>
            <a:chOff x="0" y="0"/>
            <a:chExt cx="7264400" cy="309626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•Deployme</a:t>
              </a: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nt readiness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738293"/>
              <a:ext cx="7264400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–Port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s and proxies are aligned so frontend and backend work smoothly in local development</a:t>
              </a:r>
            </a:p>
            <a:p>
              <a:pPr algn="l" marL="0" indent="0" lvl="0">
                <a:lnSpc>
                  <a:spcPts val="2800"/>
                </a:lnSpc>
              </a:pP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–Structured error messages and logging support debugging and production monitoring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38500" cy="10287000"/>
            <a:chOff x="0" y="0"/>
            <a:chExt cx="8529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9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852938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058150"/>
            <a:chOff x="0" y="0"/>
            <a:chExt cx="813829" cy="952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3829" cy="952281"/>
            </a:xfrm>
            <a:custGeom>
              <a:avLst/>
              <a:gdLst/>
              <a:ahLst/>
              <a:cxnLst/>
              <a:rect r="r" b="b" t="t" l="l"/>
              <a:pathLst>
                <a:path h="952281" w="813829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7" r="0" b="-19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53325" y="666750"/>
            <a:ext cx="10067925" cy="7503701"/>
            <a:chOff x="0" y="0"/>
            <a:chExt cx="13423900" cy="1000493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357669"/>
              <a:ext cx="13423900" cy="564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5" indent="-215903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Th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ree strided convolutional layers followed by global average pooling compress the image into a 64‑dimensional feature vector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5" indent="-215903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Two heads in parallel: one outputs landmark class logits, the other regre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s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s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es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 a 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s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ing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l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e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boun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d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i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n</a:t>
              </a: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g box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5" indent="-215903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Trained with cross‑entropy and Smooth L1 losses using AdamW and mixed precision; under 30k parameters and runs comfortably on CPU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5" indent="-215903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20">
                  <a:solidFill>
                    <a:srgbClr val="333333"/>
                  </a:solidFill>
                  <a:latin typeface="Telegraf"/>
                  <a:ea typeface="Telegraf"/>
                  <a:cs typeface="Telegraf"/>
                  <a:sym typeface="Telegraf"/>
                </a:rPr>
                <a:t>Anchor‑free design keeps the implementation simple and makes it easy to plug in deeper backbones or multi‑scale heads later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562350"/>
              <a:ext cx="134239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 spc="-30">
                  <a:solidFill>
                    <a:srgbClr val="60606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Diverse Skills and Experience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13423900" cy="2718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</a:t>
              </a:r>
              <a:r>
                <a:rPr lang="en-US" b="true" sz="6999" spc="-6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ustom Detector – </a:t>
              </a:r>
            </a:p>
            <a:p>
              <a:pPr algn="l" marL="0" indent="0" lvl="0">
                <a:lnSpc>
                  <a:spcPts val="7699"/>
                </a:lnSpc>
              </a:pPr>
              <a:r>
                <a:rPr lang="en-US" b="true" sz="6999" spc="-69">
                  <a:solidFill>
                    <a:srgbClr val="4A90E2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LandmarkDetector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606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COLLABORATIVE EFFORTS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5446" y="571500"/>
            <a:ext cx="10073345" cy="10195472"/>
            <a:chOff x="0" y="0"/>
            <a:chExt cx="2653062" cy="2685227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653062" cy="2685227"/>
            </a:xfrm>
            <a:custGeom>
              <a:avLst/>
              <a:gdLst/>
              <a:ahLst/>
              <a:cxnLst/>
              <a:rect r="r" b="b" t="t" l="l"/>
              <a:pathLst>
                <a:path h="2685227" w="2653062">
                  <a:moveTo>
                    <a:pt x="23057" y="0"/>
                  </a:moveTo>
                  <a:lnTo>
                    <a:pt x="2630005" y="0"/>
                  </a:lnTo>
                  <a:cubicBezTo>
                    <a:pt x="2636120" y="0"/>
                    <a:pt x="2641985" y="2429"/>
                    <a:pt x="2646309" y="6753"/>
                  </a:cubicBezTo>
                  <a:cubicBezTo>
                    <a:pt x="2650633" y="11077"/>
                    <a:pt x="2653062" y="16942"/>
                    <a:pt x="2653062" y="23057"/>
                  </a:cubicBezTo>
                  <a:lnTo>
                    <a:pt x="2653062" y="2662171"/>
                  </a:lnTo>
                  <a:cubicBezTo>
                    <a:pt x="2653062" y="2668286"/>
                    <a:pt x="2650633" y="2674150"/>
                    <a:pt x="2646309" y="2678474"/>
                  </a:cubicBezTo>
                  <a:cubicBezTo>
                    <a:pt x="2641985" y="2682798"/>
                    <a:pt x="2636120" y="2685227"/>
                    <a:pt x="2630005" y="2685227"/>
                  </a:cubicBezTo>
                  <a:lnTo>
                    <a:pt x="23057" y="2685227"/>
                  </a:lnTo>
                  <a:cubicBezTo>
                    <a:pt x="16942" y="2685227"/>
                    <a:pt x="11077" y="2682798"/>
                    <a:pt x="6753" y="2678474"/>
                  </a:cubicBezTo>
                  <a:cubicBezTo>
                    <a:pt x="2429" y="2674150"/>
                    <a:pt x="0" y="2668286"/>
                    <a:pt x="0" y="2662171"/>
                  </a:cubicBezTo>
                  <a:lnTo>
                    <a:pt x="0" y="23057"/>
                  </a:lnTo>
                  <a:cubicBezTo>
                    <a:pt x="0" y="16942"/>
                    <a:pt x="2429" y="11077"/>
                    <a:pt x="6753" y="6753"/>
                  </a:cubicBezTo>
                  <a:cubicBezTo>
                    <a:pt x="11077" y="2429"/>
                    <a:pt x="16942" y="0"/>
                    <a:pt x="23057" y="0"/>
                  </a:cubicBezTo>
                  <a:close/>
                </a:path>
              </a:pathLst>
            </a:custGeom>
            <a:solidFill>
              <a:srgbClr val="69AA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653062" cy="2713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5512" y="4205272"/>
            <a:ext cx="8427042" cy="6900300"/>
            <a:chOff x="0" y="0"/>
            <a:chExt cx="2219468" cy="181736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219468" cy="1817363"/>
            </a:xfrm>
            <a:custGeom>
              <a:avLst/>
              <a:gdLst/>
              <a:ahLst/>
              <a:cxnLst/>
              <a:rect r="r" b="b" t="t" l="l"/>
              <a:pathLst>
                <a:path h="1817363" w="2219468">
                  <a:moveTo>
                    <a:pt x="27561" y="0"/>
                  </a:moveTo>
                  <a:lnTo>
                    <a:pt x="2191907" y="0"/>
                  </a:lnTo>
                  <a:cubicBezTo>
                    <a:pt x="2199217" y="0"/>
                    <a:pt x="2206227" y="2904"/>
                    <a:pt x="2211395" y="8072"/>
                  </a:cubicBezTo>
                  <a:cubicBezTo>
                    <a:pt x="2216564" y="13241"/>
                    <a:pt x="2219468" y="20251"/>
                    <a:pt x="2219468" y="27561"/>
                  </a:cubicBezTo>
                  <a:lnTo>
                    <a:pt x="2219468" y="1789802"/>
                  </a:lnTo>
                  <a:cubicBezTo>
                    <a:pt x="2219468" y="1805023"/>
                    <a:pt x="2207128" y="1817363"/>
                    <a:pt x="2191907" y="1817363"/>
                  </a:cubicBezTo>
                  <a:lnTo>
                    <a:pt x="27561" y="1817363"/>
                  </a:lnTo>
                  <a:cubicBezTo>
                    <a:pt x="12339" y="1817363"/>
                    <a:pt x="0" y="1805023"/>
                    <a:pt x="0" y="1789802"/>
                  </a:cubicBezTo>
                  <a:lnTo>
                    <a:pt x="0" y="27561"/>
                  </a:lnTo>
                  <a:cubicBezTo>
                    <a:pt x="0" y="12339"/>
                    <a:pt x="12339" y="0"/>
                    <a:pt x="27561" y="0"/>
                  </a:cubicBezTo>
                  <a:close/>
                </a:path>
              </a:pathLst>
            </a:custGeom>
            <a:solidFill>
              <a:srgbClr val="DCEDF9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19468" cy="1845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13433" y="412698"/>
            <a:ext cx="10617371" cy="10087427"/>
          </a:xfrm>
          <a:prstGeom prst="rect">
            <a:avLst/>
          </a:prstGeom>
        </p:spPr>
      </p:pic>
      <p:graphicFrame>
        <p:nvGraphicFramePr>
          <p:cNvPr name="Object 9" id="9"/>
          <p:cNvGraphicFramePr/>
          <p:nvPr/>
        </p:nvGraphicFramePr>
        <p:xfrm>
          <a:off x="703043" y="4973318"/>
          <a:ext cx="11953476" cy="6945794"/>
        </p:xfrm>
        <a:graphic>
          <a:graphicData uri="http://schemas.openxmlformats.org/presentationml/2006/ole">
            <p:oleObj imgW="14338300" imgH="9334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575512" y="580566"/>
            <a:ext cx="8425613" cy="342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87"/>
              </a:lnSpc>
            </a:pPr>
            <a:r>
              <a:rPr lang="en-US" sz="8887" spc="-266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8887" spc="-266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esults: Summary Comparison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48484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694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657225"/>
            <a:ext cx="16954500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4A90E2"/>
                </a:solidFill>
                <a:latin typeface="Telegraf Bold"/>
                <a:ea typeface="Telegraf Bold"/>
                <a:cs typeface="Telegraf Bold"/>
                <a:sym typeface="Telegraf Bold"/>
              </a:rPr>
              <a:t>Fu</a:t>
            </a:r>
            <a:r>
              <a:rPr lang="en-US" b="true" sz="6999" spc="-69">
                <a:solidFill>
                  <a:srgbClr val="4A90E2"/>
                </a:solidFill>
                <a:latin typeface="Telegraf Bold"/>
                <a:ea typeface="Telegraf Bold"/>
                <a:cs typeface="Telegraf Bold"/>
                <a:sym typeface="Telegraf Bold"/>
              </a:rPr>
              <a:t>ture advancements</a:t>
            </a:r>
          </a:p>
        </p:txBody>
      </p:sp>
      <p:sp>
        <p:nvSpPr>
          <p:cNvPr name="AutoShape 6" id="6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cap="flat" w="9525">
            <a:solidFill>
              <a:srgbClr val="606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66750" y="9676455"/>
            <a:ext cx="2571750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12">
                <a:solidFill>
                  <a:srgbClr val="333333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CONSIDERATIONS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1320" y="3565637"/>
            <a:ext cx="12867412" cy="430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2685" spc="-2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Fr</a:t>
            </a:r>
            <a:r>
              <a:rPr lang="en-US" b="true" sz="2685" spc="-26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ontend implementation</a:t>
            </a:r>
          </a:p>
          <a:p>
            <a:pPr algn="l" marL="579777" indent="-289889" lvl="1">
              <a:lnSpc>
                <a:spcPts val="3759"/>
              </a:lnSpc>
              <a:buFont typeface="Arial"/>
              <a:buChar char="•"/>
            </a:pPr>
            <a:r>
              <a:rPr lang="en-US" sz="2685" spc="-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Refine the existing UploadForm and ResultViewer components for smoother UX</a:t>
            </a:r>
          </a:p>
          <a:p>
            <a:pPr algn="l" marL="579777" indent="-289889" lvl="1">
              <a:lnSpc>
                <a:spcPts val="3759"/>
              </a:lnSpc>
              <a:buFont typeface="Arial"/>
              <a:buChar char="•"/>
            </a:pPr>
            <a:r>
              <a:rPr lang="en-US" sz="2685" spc="-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Add small enhancements like drag-and-drop upload, zoom on detections, and easier result export</a:t>
            </a:r>
          </a:p>
          <a:p>
            <a:pPr algn="l">
              <a:lnSpc>
                <a:spcPts val="3759"/>
              </a:lnSpc>
            </a:pPr>
            <a:r>
              <a:rPr lang="en-US" b="true" sz="2685" spc="-26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Larger dataset for better accuracy</a:t>
            </a:r>
          </a:p>
          <a:p>
            <a:pPr algn="l" marL="579777" indent="-289889" lvl="1">
              <a:lnSpc>
                <a:spcPts val="3759"/>
              </a:lnSpc>
              <a:buFont typeface="Arial"/>
              <a:buChar char="•"/>
            </a:pPr>
            <a:r>
              <a:rPr lang="en-US" sz="2685" spc="-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Expand the training dataset with more diverse landmark images and viewpoints</a:t>
            </a:r>
          </a:p>
          <a:p>
            <a:pPr algn="l" marL="579777" indent="-289889" lvl="1">
              <a:lnSpc>
                <a:spcPts val="3759"/>
              </a:lnSpc>
              <a:buFont typeface="Arial"/>
              <a:buChar char="•"/>
            </a:pPr>
            <a:r>
              <a:rPr lang="en-US" sz="2685" spc="-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Improve label quality and class balance to boost detection accuracy and reduce noisy predictions</a:t>
            </a:r>
          </a:p>
          <a:p>
            <a:pPr algn="l">
              <a:lnSpc>
                <a:spcPts val="37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3873183" y="3039913"/>
            <a:ext cx="4052080" cy="5993111"/>
            <a:chOff x="0" y="0"/>
            <a:chExt cx="643859" cy="9522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3859" cy="952281"/>
            </a:xfrm>
            <a:custGeom>
              <a:avLst/>
              <a:gdLst/>
              <a:ahLst/>
              <a:cxnLst/>
              <a:rect r="r" b="b" t="t" l="l"/>
              <a:pathLst>
                <a:path h="952281" w="643859">
                  <a:moveTo>
                    <a:pt x="66871" y="0"/>
                  </a:moveTo>
                  <a:lnTo>
                    <a:pt x="576988" y="0"/>
                  </a:lnTo>
                  <a:cubicBezTo>
                    <a:pt x="613920" y="0"/>
                    <a:pt x="643859" y="29939"/>
                    <a:pt x="643859" y="66871"/>
                  </a:cubicBezTo>
                  <a:lnTo>
                    <a:pt x="643859" y="885410"/>
                  </a:lnTo>
                  <a:cubicBezTo>
                    <a:pt x="643859" y="903146"/>
                    <a:pt x="636814" y="920154"/>
                    <a:pt x="624273" y="932695"/>
                  </a:cubicBezTo>
                  <a:cubicBezTo>
                    <a:pt x="611732" y="945236"/>
                    <a:pt x="594723" y="952281"/>
                    <a:pt x="576988" y="952281"/>
                  </a:cubicBezTo>
                  <a:lnTo>
                    <a:pt x="66871" y="952281"/>
                  </a:lnTo>
                  <a:cubicBezTo>
                    <a:pt x="49136" y="952281"/>
                    <a:pt x="32127" y="945236"/>
                    <a:pt x="19586" y="932695"/>
                  </a:cubicBezTo>
                  <a:cubicBezTo>
                    <a:pt x="7045" y="920154"/>
                    <a:pt x="0" y="903146"/>
                    <a:pt x="0" y="885410"/>
                  </a:cubicBezTo>
                  <a:lnTo>
                    <a:pt x="0" y="66871"/>
                  </a:lnTo>
                  <a:cubicBezTo>
                    <a:pt x="0" y="49136"/>
                    <a:pt x="7045" y="32127"/>
                    <a:pt x="19586" y="19586"/>
                  </a:cubicBezTo>
                  <a:cubicBezTo>
                    <a:pt x="32127" y="7045"/>
                    <a:pt x="49136" y="0"/>
                    <a:pt x="668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6" r="0" b="-17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9850" cy="10287000"/>
            <a:chOff x="0" y="0"/>
            <a:chExt cx="758673" cy="1215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8673" cy="1215678"/>
            </a:xfrm>
            <a:custGeom>
              <a:avLst/>
              <a:gdLst/>
              <a:ahLst/>
              <a:cxnLst/>
              <a:rect r="r" b="b" t="t" l="l"/>
              <a:pathLst>
                <a:path h="1215678" w="758673">
                  <a:moveTo>
                    <a:pt x="0" y="0"/>
                  </a:moveTo>
                  <a:lnTo>
                    <a:pt x="758673" y="0"/>
                  </a:lnTo>
                  <a:lnTo>
                    <a:pt x="758673" y="1215678"/>
                  </a:lnTo>
                  <a:lnTo>
                    <a:pt x="0" y="1215678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58125" y="1143000"/>
            <a:ext cx="8324850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</a:pPr>
            <a:r>
              <a:rPr lang="en-US" b="true" sz="6999" spc="-69">
                <a:solidFill>
                  <a:srgbClr val="4A90E2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DAG6Ursw1UY</dc:identifier>
  <dcterms:modified xsi:type="dcterms:W3CDTF">2011-08-01T06:04:30Z</dcterms:modified>
  <cp:revision>1</cp:revision>
  <dc:title>Computer Vision</dc:title>
</cp:coreProperties>
</file>